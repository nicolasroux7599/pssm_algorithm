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68"/>
    <p:restoredTop sz="94646"/>
  </p:normalViewPr>
  <p:slideViewPr>
    <p:cSldViewPr snapToGrid="0" snapToObjects="1">
      <p:cViewPr varScale="1">
        <p:scale>
          <a:sx n="110" d="100"/>
          <a:sy n="110" d="100"/>
        </p:scale>
        <p:origin x="63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fr-FR" dirty="0"/>
              <a:t>Cliquez et modifiez le titre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Cliquez pour modifier le style des sous-titres du masque</a:t>
            </a:r>
            <a:endParaRPr lang="en-US" dirty="0"/>
          </a:p>
        </p:txBody>
      </p:sp>
      <p:sp>
        <p:nvSpPr>
          <p:cNvPr id="4" name="Date Placeholder 3"/>
          <p:cNvSpPr>
            <a:spLocks noGrp="1"/>
          </p:cNvSpPr>
          <p:nvPr>
            <p:ph type="dt" sz="half" idx="10"/>
          </p:nvPr>
        </p:nvSpPr>
        <p:spPr/>
        <p:txBody>
          <a:bodyPr/>
          <a:lstStyle/>
          <a:p>
            <a:fld id="{15A503BE-1AE3-F744-931F-CD446E78F8C0}" type="datetimeFigureOut">
              <a:t>02/11/2022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BB1C82A-15A4-084D-9584-977EE72AB0C8}" type="slidenum">
              <a:t>‹#›</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Cliquez et modifiez le titre</a:t>
            </a:r>
            <a:endParaRPr lang="en-US" dirty="0"/>
          </a:p>
        </p:txBody>
      </p:sp>
      <p:sp>
        <p:nvSpPr>
          <p:cNvPr id="3" name="Content Placeholder 2"/>
          <p:cNvSpPr>
            <a:spLocks noGrp="1"/>
          </p:cNvSpPr>
          <p:nvPr>
            <p:ph idx="1"/>
          </p:nvPr>
        </p:nvSpPr>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10"/>
          </p:nvPr>
        </p:nvSpPr>
        <p:spPr/>
        <p:txBody>
          <a:bodyPr/>
          <a:lstStyle/>
          <a:p>
            <a:fld id="{15A503BE-1AE3-F744-931F-CD446E78F8C0}" type="datetimeFigureOut">
              <a:t>02/11/2022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BB1C82A-15A4-084D-9584-977EE72AB0C8}" type="slidenum">
              <a:t>‹#›</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fr-FR" dirty="0"/>
              <a:t>Cliquez et modifiez le titre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Cliquez pour modifier les styles du texte du masque</a:t>
            </a:r>
          </a:p>
        </p:txBody>
      </p:sp>
      <p:sp>
        <p:nvSpPr>
          <p:cNvPr id="4" name="Date Placeholder 3"/>
          <p:cNvSpPr>
            <a:spLocks noGrp="1"/>
          </p:cNvSpPr>
          <p:nvPr>
            <p:ph type="dt" sz="half" idx="10"/>
          </p:nvPr>
        </p:nvSpPr>
        <p:spPr/>
        <p:txBody>
          <a:bodyPr/>
          <a:lstStyle/>
          <a:p>
            <a:fld id="{15A503BE-1AE3-F744-931F-CD446E78F8C0}" type="datetimeFigureOut">
              <a:t>02/11/2022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BB1C82A-15A4-084D-9584-977EE72AB0C8}" type="slidenum">
              <a:t>‹#›</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Cliquez et modifiez le titre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5" name="Date Placeholder 4"/>
          <p:cNvSpPr>
            <a:spLocks noGrp="1"/>
          </p:cNvSpPr>
          <p:nvPr>
            <p:ph type="dt" sz="half" idx="10"/>
          </p:nvPr>
        </p:nvSpPr>
        <p:spPr/>
        <p:txBody>
          <a:bodyPr/>
          <a:lstStyle/>
          <a:p>
            <a:fld id="{15A503BE-1AE3-F744-931F-CD446E78F8C0}" type="datetimeFigureOut">
              <a:t>02/11/2022</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BB1C82A-15A4-084D-9584-977EE72AB0C8}" type="slidenum">
              <a:t>‹#›</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fr-FR" dirty="0"/>
              <a:t>Cliquez et modifiez le titre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4" name="Content Placeholder 3"/>
          <p:cNvSpPr>
            <a:spLocks noGrp="1"/>
          </p:cNvSpPr>
          <p:nvPr>
            <p:ph sz="half" idx="2"/>
          </p:nvPr>
        </p:nvSpPr>
        <p:spPr>
          <a:xfrm>
            <a:off x="629842" y="2505075"/>
            <a:ext cx="3868340" cy="3684588"/>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6" name="Content Placeholder 5"/>
          <p:cNvSpPr>
            <a:spLocks noGrp="1"/>
          </p:cNvSpPr>
          <p:nvPr>
            <p:ph sz="quarter" idx="4"/>
          </p:nvPr>
        </p:nvSpPr>
        <p:spPr>
          <a:xfrm>
            <a:off x="4629150" y="2505075"/>
            <a:ext cx="3887391" cy="3684588"/>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7" name="Date Placeholder 6"/>
          <p:cNvSpPr>
            <a:spLocks noGrp="1"/>
          </p:cNvSpPr>
          <p:nvPr>
            <p:ph type="dt" sz="half" idx="10"/>
          </p:nvPr>
        </p:nvSpPr>
        <p:spPr/>
        <p:txBody>
          <a:bodyPr/>
          <a:lstStyle/>
          <a:p>
            <a:fld id="{15A503BE-1AE3-F744-931F-CD446E78F8C0}" type="datetimeFigureOut">
              <a:t>02/11/2022</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ABB1C82A-15A4-084D-9584-977EE72AB0C8}" type="slidenum">
              <a:t>‹#›</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Cliquez et modifiez le titre</a:t>
            </a:r>
            <a:endParaRPr lang="en-US" dirty="0"/>
          </a:p>
        </p:txBody>
      </p:sp>
      <p:sp>
        <p:nvSpPr>
          <p:cNvPr id="3" name="Date Placeholder 2"/>
          <p:cNvSpPr>
            <a:spLocks noGrp="1"/>
          </p:cNvSpPr>
          <p:nvPr>
            <p:ph type="dt" sz="half" idx="10"/>
          </p:nvPr>
        </p:nvSpPr>
        <p:spPr/>
        <p:txBody>
          <a:bodyPr/>
          <a:lstStyle/>
          <a:p>
            <a:fld id="{15A503BE-1AE3-F744-931F-CD446E78F8C0}" type="datetimeFigureOut">
              <a:t>02/11/2022</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ABB1C82A-15A4-084D-9584-977EE72AB0C8}" type="slidenum">
              <a:t>‹#›</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A503BE-1AE3-F744-931F-CD446E78F8C0}" type="datetimeFigureOut">
              <a:t>02/11/2022</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ABB1C82A-15A4-084D-9584-977EE72AB0C8}" type="slidenum">
              <a:t>‹#›</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dirty="0"/>
              <a:t>Cliquez et modifiez le titre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dirty="0"/>
              <a:t>Cliquez pour modifier les styles du texte du masque</a:t>
            </a:r>
          </a:p>
        </p:txBody>
      </p:sp>
      <p:sp>
        <p:nvSpPr>
          <p:cNvPr id="5" name="Date Placeholder 4"/>
          <p:cNvSpPr>
            <a:spLocks noGrp="1"/>
          </p:cNvSpPr>
          <p:nvPr>
            <p:ph type="dt" sz="half" idx="10"/>
          </p:nvPr>
        </p:nvSpPr>
        <p:spPr/>
        <p:txBody>
          <a:bodyPr/>
          <a:lstStyle/>
          <a:p>
            <a:fld id="{15A503BE-1AE3-F744-931F-CD446E78F8C0}" type="datetimeFigureOut">
              <a:t>02/11/2022</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BB1C82A-15A4-084D-9584-977EE72AB0C8}" type="slidenum">
              <a:t>‹#›</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dirty="0"/>
              <a:t>Cliquez et modifiez le titre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dirty="0"/>
              <a:t>Faire glisser l'image vers l'espace réservé ou cliquer sur l'icône pour l'ajouter</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dirty="0"/>
              <a:t>Cliquez pour modifier les styles du texte du masque</a:t>
            </a:r>
          </a:p>
        </p:txBody>
      </p:sp>
      <p:sp>
        <p:nvSpPr>
          <p:cNvPr id="5" name="Date Placeholder 4"/>
          <p:cNvSpPr>
            <a:spLocks noGrp="1"/>
          </p:cNvSpPr>
          <p:nvPr>
            <p:ph type="dt" sz="half" idx="10"/>
          </p:nvPr>
        </p:nvSpPr>
        <p:spPr/>
        <p:txBody>
          <a:bodyPr/>
          <a:lstStyle/>
          <a:p>
            <a:fld id="{15A503BE-1AE3-F744-931F-CD446E78F8C0}" type="datetimeFigureOut">
              <a:t>02/11/2022</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ABB1C82A-15A4-084D-9584-977EE72AB0C8}" type="slidenum">
              <a:t>‹#›</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Cliquez et modifiez le titre</a:t>
            </a:r>
            <a:endParaRPr lang="en-US" dirty="0"/>
          </a:p>
        </p:txBody>
      </p:sp>
      <p:sp>
        <p:nvSpPr>
          <p:cNvPr id="3" name="Vertical Text Placeholder 2"/>
          <p:cNvSpPr>
            <a:spLocks noGrp="1"/>
          </p:cNvSpPr>
          <p:nvPr>
            <p:ph type="body" orient="vert" idx="1"/>
          </p:nvPr>
        </p:nvSpPr>
        <p:spPr/>
        <p:txBody>
          <a:bodyPr vert="eaVert"/>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10"/>
          </p:nvPr>
        </p:nvSpPr>
        <p:spPr/>
        <p:txBody>
          <a:bodyPr/>
          <a:lstStyle/>
          <a:p>
            <a:fld id="{15A503BE-1AE3-F744-931F-CD446E78F8C0}" type="datetimeFigureOut">
              <a:t>02/11/2022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BB1C82A-15A4-084D-9584-977EE72AB0C8}" type="slidenum">
              <a:t>‹#›</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fr-FR" dirty="0"/>
              <a:t>Cliquez et modifiez le titre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10"/>
          </p:nvPr>
        </p:nvSpPr>
        <p:spPr/>
        <p:txBody>
          <a:bodyPr/>
          <a:lstStyle/>
          <a:p>
            <a:fld id="{15A503BE-1AE3-F744-931F-CD446E78F8C0}" type="datetimeFigureOut">
              <a:t>02/11/2022</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ABB1C82A-15A4-084D-9584-977EE72AB0C8}" type="slidenum">
              <a:t>‹#›</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fr-FR" dirty="0"/>
              <a:t>Cliquez et modifiez le titre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A503BE-1AE3-F744-931F-CD446E78F8C0}" type="datetimeFigureOut">
              <a:t>02/11/2022</a:t>
            </a:fld>
            <a:endParaRPr lang="fr-F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B1C82A-15A4-084D-9584-977EE72AB0C8}" type="slidenum">
              <a:t>‹#›</a:t>
            </a:fld>
            <a:endParaRPr lang="fr-FR"/>
          </a:p>
        </p:txBody>
      </p:sp>
    </p:spTree>
    <p:extLst>
      <p:ext uri="{BB962C8B-B14F-4D97-AF65-F5344CB8AC3E}">
        <p14:creationId xmlns:p14="http://schemas.microsoft.com/office/powerpoint/2010/main" val="314001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423903" y="289367"/>
            <a:ext cx="8342489" cy="923330"/>
          </a:xfrm>
          <a:prstGeom prst="rect">
            <a:avLst/>
          </a:prstGeom>
          <a:noFill/>
        </p:spPr>
        <p:txBody>
          <a:bodyPr wrap="square" rtlCol="0">
            <a:spAutoFit/>
          </a:bodyPr>
          <a:lstStyle/>
          <a:p>
            <a:r>
              <a:rPr lang="fr-FR"/>
              <a:t>MET31 in a zinc-finger DNA-binding transcription factor involved in the transcriptional regulation of the methionine biosynthetic genes (in yeast). MET31 binds the motif </a:t>
            </a:r>
            <a:br>
              <a:rPr lang="fr-FR"/>
            </a:br>
            <a:r>
              <a:rPr lang="ru-RU"/>
              <a:t>5'-GTGGCG-3'</a:t>
            </a:r>
            <a:r>
              <a:rPr lang="nl-BE"/>
              <a:t> typically located in the upstream region of the target genes.</a:t>
            </a:r>
            <a:endParaRPr lang="fr-FR"/>
          </a:p>
        </p:txBody>
      </p:sp>
      <p:sp>
        <p:nvSpPr>
          <p:cNvPr id="5" name="ZoneTexte 4"/>
          <p:cNvSpPr txBox="1"/>
          <p:nvPr/>
        </p:nvSpPr>
        <p:spPr>
          <a:xfrm>
            <a:off x="400754" y="1445833"/>
            <a:ext cx="8342489" cy="5139869"/>
          </a:xfrm>
          <a:prstGeom prst="rect">
            <a:avLst/>
          </a:prstGeom>
          <a:noFill/>
        </p:spPr>
        <p:txBody>
          <a:bodyPr wrap="square" rtlCol="0">
            <a:spAutoFit/>
          </a:bodyPr>
          <a:lstStyle/>
          <a:p>
            <a:pPr marL="179388" indent="-179388">
              <a:spcBef>
                <a:spcPts val="1200"/>
              </a:spcBef>
              <a:buFont typeface="Wingdings" charset="2"/>
              <a:buChar char="§"/>
            </a:pPr>
            <a:r>
              <a:rPr lang="fr-FR"/>
              <a:t>Here is a set of binding site sequences for MET31 obtained through a (hypothetical) SELEX experiment: </a:t>
            </a:r>
            <a:r>
              <a:rPr lang="fr-FR">
                <a:solidFill>
                  <a:srgbClr val="182EC4"/>
                </a:solidFill>
              </a:rPr>
              <a:t>MET31_binding_sites.txt</a:t>
            </a:r>
            <a:r>
              <a:rPr lang="fr-FR"/>
              <a:t> (see next slide). Build a PSSM matrix (a) with counts, (b) with frequencies. Compare your PSSM with the ones provided by SGD (yeastgenome.org) and by Jaspar (https://jaspar.genereg.net/).</a:t>
            </a:r>
          </a:p>
          <a:p>
            <a:pPr marL="179388" indent="-179388">
              <a:spcBef>
                <a:spcPts val="1200"/>
              </a:spcBef>
              <a:buFont typeface="Wingdings" charset="2"/>
              <a:buChar char="§"/>
            </a:pPr>
            <a:r>
              <a:rPr lang="fr-FR"/>
              <a:t>The following genes are known to be regulated by MET31: </a:t>
            </a:r>
            <a:r>
              <a:rPr lang="fr-FR">
                <a:solidFill>
                  <a:srgbClr val="182EC4"/>
                </a:solidFill>
              </a:rPr>
              <a:t>MET2, MET5, MET6, MET16, CYS3, SAM1, STR3</a:t>
            </a:r>
            <a:r>
              <a:rPr lang="fr-FR"/>
              <a:t> (see "known" binding sites on the next slide). </a:t>
            </a:r>
            <a:br>
              <a:rPr lang="fr-FR"/>
            </a:br>
            <a:r>
              <a:rPr lang="fr-FR"/>
              <a:t>Download the promoter sequences of these genes, i.e. the gene together with the flanking regions (from SGD). Scan these sequences with the PSSM and identify potential binding sites for MET31 by adjusting the threshold on the score. </a:t>
            </a:r>
            <a:br>
              <a:rPr lang="fr-FR"/>
            </a:br>
            <a:r>
              <a:rPr lang="fr-FR"/>
              <a:t>Don't forget the reverse complement strand. </a:t>
            </a:r>
          </a:p>
          <a:p>
            <a:pPr marL="179388" indent="-179388">
              <a:spcBef>
                <a:spcPts val="1200"/>
              </a:spcBef>
              <a:buFont typeface="Wingdings" charset="2"/>
              <a:buChar char="§"/>
            </a:pPr>
            <a:r>
              <a:rPr lang="fr-FR"/>
              <a:t>Discuss the effect of pseudo-counts and background probabilities on the predictions (specificity, sensitivity).</a:t>
            </a:r>
          </a:p>
          <a:p>
            <a:pPr marL="179388" indent="-179388">
              <a:spcBef>
                <a:spcPts val="1200"/>
              </a:spcBef>
              <a:buFont typeface="Wingdings" charset="2"/>
              <a:buChar char="§"/>
            </a:pPr>
            <a:r>
              <a:rPr lang="fr-FR"/>
              <a:t>For the </a:t>
            </a:r>
            <a:r>
              <a:rPr lang="fr-FR" i="1"/>
              <a:t>optimal</a:t>
            </a:r>
            <a:r>
              <a:rPr lang="fr-FR"/>
              <a:t> parameters, scan the promoter sequences of 5 genes reported as regulated by MET31 (cf. SGD), as well as of genes of your choice (assumed not be regulated by MET31). Present the results as a table (e.g. gene|motif |position|score) and discuss the predictions.</a:t>
            </a:r>
          </a:p>
        </p:txBody>
      </p:sp>
    </p:spTree>
    <p:extLst>
      <p:ext uri="{BB962C8B-B14F-4D97-AF65-F5344CB8AC3E}">
        <p14:creationId xmlns:p14="http://schemas.microsoft.com/office/powerpoint/2010/main" val="907702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p:cNvSpPr txBox="1"/>
          <p:nvPr/>
        </p:nvSpPr>
        <p:spPr>
          <a:xfrm>
            <a:off x="426337" y="404725"/>
            <a:ext cx="2513633" cy="5309146"/>
          </a:xfrm>
          <a:prstGeom prst="rect">
            <a:avLst/>
          </a:prstGeom>
          <a:noFill/>
        </p:spPr>
        <p:txBody>
          <a:bodyPr wrap="square" rtlCol="0">
            <a:spAutoFit/>
          </a:bodyPr>
          <a:lstStyle/>
          <a:p>
            <a:r>
              <a:rPr lang="fr-FR" sz="1500" b="1"/>
              <a:t>MET31_binding_sites.txt</a:t>
            </a:r>
          </a:p>
          <a:p>
            <a:r>
              <a:rPr lang="fr-FR" sz="1400"/>
              <a:t>(given to the students)</a:t>
            </a:r>
          </a:p>
          <a:p>
            <a:endParaRPr lang="fr-FR" sz="1400"/>
          </a:p>
          <a:p>
            <a:endParaRPr lang="fr-FR" sz="1400"/>
          </a:p>
          <a:p>
            <a:r>
              <a:rPr lang="fr-FR" sz="1400">
                <a:latin typeface="Courier" charset="0"/>
                <a:ea typeface="Courier" charset="0"/>
                <a:cs typeface="Courier" charset="0"/>
              </a:rPr>
              <a:t>TGCCACTGT</a:t>
            </a:r>
          </a:p>
          <a:p>
            <a:r>
              <a:rPr lang="fr-FR" sz="1400">
                <a:latin typeface="Courier" charset="0"/>
                <a:ea typeface="Courier" charset="0"/>
                <a:cs typeface="Courier" charset="0"/>
              </a:rPr>
              <a:t>CGCCACATG</a:t>
            </a:r>
          </a:p>
          <a:p>
            <a:r>
              <a:rPr lang="fr-FR" sz="1400">
                <a:latin typeface="Courier" charset="0"/>
                <a:ea typeface="Courier" charset="0"/>
                <a:cs typeface="Courier" charset="0"/>
              </a:rPr>
              <a:t>CGCCACTAT</a:t>
            </a:r>
          </a:p>
          <a:p>
            <a:r>
              <a:rPr lang="fr-FR" sz="1400">
                <a:latin typeface="Courier" charset="0"/>
                <a:ea typeface="Courier" charset="0"/>
                <a:cs typeface="Courier" charset="0"/>
              </a:rPr>
              <a:t>CGCCACGTC</a:t>
            </a:r>
          </a:p>
          <a:p>
            <a:r>
              <a:rPr lang="fr-FR" sz="1400">
                <a:latin typeface="Courier" charset="0"/>
                <a:ea typeface="Courier" charset="0"/>
                <a:cs typeface="Courier" charset="0"/>
              </a:rPr>
              <a:t>CCCCAGAGT</a:t>
            </a:r>
          </a:p>
          <a:p>
            <a:r>
              <a:rPr lang="fr-FR" sz="1400">
                <a:latin typeface="Courier" charset="0"/>
                <a:ea typeface="Courier" charset="0"/>
                <a:cs typeface="Courier" charset="0"/>
              </a:rPr>
              <a:t>CGCCACGGC</a:t>
            </a:r>
          </a:p>
          <a:p>
            <a:r>
              <a:rPr lang="fr-FR" sz="1400">
                <a:latin typeface="Courier" charset="0"/>
                <a:ea typeface="Courier" charset="0"/>
                <a:cs typeface="Courier" charset="0"/>
              </a:rPr>
              <a:t>TGCCACCTT</a:t>
            </a:r>
          </a:p>
          <a:p>
            <a:r>
              <a:rPr lang="fr-FR" sz="1400">
                <a:latin typeface="Courier" charset="0"/>
                <a:ea typeface="Courier" charset="0"/>
                <a:cs typeface="Courier" charset="0"/>
              </a:rPr>
              <a:t>CGCCACCGT</a:t>
            </a:r>
          </a:p>
          <a:p>
            <a:r>
              <a:rPr lang="fr-FR" sz="1400">
                <a:latin typeface="Courier" charset="0"/>
                <a:ea typeface="Courier" charset="0"/>
                <a:cs typeface="Courier" charset="0"/>
              </a:rPr>
              <a:t>CGCTACCGG</a:t>
            </a:r>
          </a:p>
          <a:p>
            <a:r>
              <a:rPr lang="fr-FR" sz="1400">
                <a:latin typeface="Courier" charset="0"/>
                <a:ea typeface="Courier" charset="0"/>
                <a:cs typeface="Courier" charset="0"/>
              </a:rPr>
              <a:t>CGCCTCCGT</a:t>
            </a:r>
          </a:p>
          <a:p>
            <a:r>
              <a:rPr lang="fr-FR" sz="1400">
                <a:latin typeface="Courier" charset="0"/>
                <a:ea typeface="Courier" charset="0"/>
                <a:cs typeface="Courier" charset="0"/>
              </a:rPr>
              <a:t>AGCCACACC</a:t>
            </a:r>
          </a:p>
          <a:p>
            <a:r>
              <a:rPr lang="fr-FR" sz="1400">
                <a:latin typeface="Courier" charset="0"/>
                <a:ea typeface="Courier" charset="0"/>
                <a:cs typeface="Courier" charset="0"/>
              </a:rPr>
              <a:t>CGCCACGAT</a:t>
            </a:r>
          </a:p>
          <a:p>
            <a:r>
              <a:rPr lang="fr-FR" sz="1400">
                <a:latin typeface="Courier" charset="0"/>
                <a:ea typeface="Courier" charset="0"/>
                <a:cs typeface="Courier" charset="0"/>
              </a:rPr>
              <a:t>CACCACACT</a:t>
            </a:r>
          </a:p>
          <a:p>
            <a:r>
              <a:rPr lang="fr-FR" sz="1400">
                <a:latin typeface="Courier" charset="0"/>
                <a:ea typeface="Courier" charset="0"/>
                <a:cs typeface="Courier" charset="0"/>
              </a:rPr>
              <a:t>CGCCTCACC</a:t>
            </a:r>
          </a:p>
          <a:p>
            <a:r>
              <a:rPr lang="fr-FR" sz="1400">
                <a:latin typeface="Courier" charset="0"/>
                <a:ea typeface="Courier" charset="0"/>
                <a:cs typeface="Courier" charset="0"/>
              </a:rPr>
              <a:t>CGCCACTAC</a:t>
            </a:r>
          </a:p>
          <a:p>
            <a:r>
              <a:rPr lang="fr-FR" sz="1400">
                <a:latin typeface="Courier" charset="0"/>
                <a:ea typeface="Courier" charset="0"/>
                <a:cs typeface="Courier" charset="0"/>
              </a:rPr>
              <a:t>CGCCACACA</a:t>
            </a:r>
          </a:p>
          <a:p>
            <a:r>
              <a:rPr lang="fr-FR" sz="1400">
                <a:latin typeface="Courier" charset="0"/>
                <a:ea typeface="Courier" charset="0"/>
                <a:cs typeface="Courier" charset="0"/>
              </a:rPr>
              <a:t>AGCCACAAC</a:t>
            </a:r>
          </a:p>
          <a:p>
            <a:r>
              <a:rPr lang="fr-FR" sz="1400">
                <a:latin typeface="Courier" charset="0"/>
                <a:ea typeface="Courier" charset="0"/>
                <a:cs typeface="Courier" charset="0"/>
              </a:rPr>
              <a:t>AGCCACACC</a:t>
            </a:r>
          </a:p>
          <a:p>
            <a:r>
              <a:rPr lang="fr-FR" sz="1400">
                <a:latin typeface="Courier" charset="0"/>
                <a:ea typeface="Courier" charset="0"/>
                <a:cs typeface="Courier" charset="0"/>
              </a:rPr>
              <a:t>CGCGACACA</a:t>
            </a:r>
          </a:p>
          <a:p>
            <a:r>
              <a:rPr lang="fr-FR" sz="1400">
                <a:latin typeface="Courier" charset="0"/>
                <a:ea typeface="Courier" charset="0"/>
                <a:cs typeface="Courier" charset="0"/>
              </a:rPr>
              <a:t>AGCCACATC</a:t>
            </a:r>
          </a:p>
        </p:txBody>
      </p:sp>
      <p:sp>
        <p:nvSpPr>
          <p:cNvPr id="7" name="ZoneTexte 6"/>
          <p:cNvSpPr txBox="1"/>
          <p:nvPr/>
        </p:nvSpPr>
        <p:spPr>
          <a:xfrm>
            <a:off x="3125165" y="404725"/>
            <a:ext cx="5613721" cy="3323987"/>
          </a:xfrm>
          <a:prstGeom prst="rect">
            <a:avLst/>
          </a:prstGeom>
          <a:noFill/>
        </p:spPr>
        <p:txBody>
          <a:bodyPr wrap="square" rtlCol="0">
            <a:spAutoFit/>
          </a:bodyPr>
          <a:lstStyle/>
          <a:p>
            <a:r>
              <a:rPr lang="fr-FR" sz="1700" b="1"/>
              <a:t>"known" binding sites for MET31</a:t>
            </a:r>
          </a:p>
          <a:p>
            <a:r>
              <a:rPr lang="fr-FR" sz="1500"/>
              <a:t>(given to the students)</a:t>
            </a:r>
          </a:p>
          <a:p>
            <a:endParaRPr lang="fr-FR" sz="1500"/>
          </a:p>
          <a:p>
            <a:pPr>
              <a:spcAft>
                <a:spcPts val="1200"/>
              </a:spcAft>
            </a:pPr>
            <a:r>
              <a:rPr lang="fr-FR" sz="1500"/>
              <a:t>MET2: -326 (CGCCACACA)</a:t>
            </a:r>
          </a:p>
          <a:p>
            <a:pPr>
              <a:spcAft>
                <a:spcPts val="1200"/>
              </a:spcAft>
            </a:pPr>
            <a:r>
              <a:rPr lang="fr-FR" sz="1500"/>
              <a:t>MET5: -275 (TGCCACAAT)</a:t>
            </a:r>
          </a:p>
          <a:p>
            <a:pPr>
              <a:spcAft>
                <a:spcPts val="1200"/>
              </a:spcAft>
            </a:pPr>
            <a:r>
              <a:rPr lang="fr-FR" sz="1500"/>
              <a:t>MET6: -540 (CGCCACATC)</a:t>
            </a:r>
          </a:p>
          <a:p>
            <a:pPr>
              <a:spcAft>
                <a:spcPts val="1200"/>
              </a:spcAft>
            </a:pPr>
            <a:r>
              <a:rPr lang="fr-FR" sz="1500"/>
              <a:t>MET16: -157 (AGCCACAAC)</a:t>
            </a:r>
          </a:p>
          <a:p>
            <a:pPr>
              <a:spcAft>
                <a:spcPts val="1200"/>
              </a:spcAft>
            </a:pPr>
            <a:r>
              <a:rPr lang="fr-FR" sz="1500"/>
              <a:t>CYS3: -309 (CGCCACACT) and -192 (CGCCACACT)</a:t>
            </a:r>
          </a:p>
          <a:p>
            <a:pPr>
              <a:spcAft>
                <a:spcPts val="1200"/>
              </a:spcAft>
            </a:pPr>
            <a:r>
              <a:rPr lang="fr-FR" sz="1500"/>
              <a:t>SAM1: -272 on reverse strand (GTGGTGGCG | CACCACCGC)</a:t>
            </a:r>
          </a:p>
          <a:p>
            <a:pPr>
              <a:spcAft>
                <a:spcPts val="1200"/>
              </a:spcAft>
            </a:pPr>
            <a:r>
              <a:rPr lang="fr-FR" sz="1500"/>
              <a:t>STR3: -416 (CGCCACAGT)</a:t>
            </a:r>
          </a:p>
        </p:txBody>
      </p:sp>
      <p:sp>
        <p:nvSpPr>
          <p:cNvPr id="8" name="ZoneTexte 7"/>
          <p:cNvSpPr txBox="1"/>
          <p:nvPr/>
        </p:nvSpPr>
        <p:spPr>
          <a:xfrm>
            <a:off x="3125165" y="4168427"/>
            <a:ext cx="5845215" cy="2400657"/>
          </a:xfrm>
          <a:prstGeom prst="rect">
            <a:avLst/>
          </a:prstGeom>
          <a:noFill/>
        </p:spPr>
        <p:txBody>
          <a:bodyPr wrap="square" rtlCol="0">
            <a:spAutoFit/>
          </a:bodyPr>
          <a:lstStyle/>
          <a:p>
            <a:r>
              <a:rPr lang="fr-FR" sz="1500" b="1"/>
              <a:t>TO BE TESTED FOR PREDICTIONS:</a:t>
            </a:r>
          </a:p>
          <a:p>
            <a:pPr marL="138113" indent="-138113">
              <a:buFont typeface="Arial" charset="0"/>
              <a:buChar char="•"/>
            </a:pPr>
            <a:endParaRPr lang="fr-FR" sz="1500">
              <a:ea typeface="Courier" charset="0"/>
              <a:cs typeface="Courier" charset="0"/>
            </a:endParaRPr>
          </a:p>
          <a:p>
            <a:pPr marL="138113" indent="-138113">
              <a:buFont typeface="Arial" charset="0"/>
              <a:buChar char="•"/>
            </a:pPr>
            <a:r>
              <a:rPr lang="fr-FR" sz="1500">
                <a:ea typeface="Courier" charset="0"/>
                <a:cs typeface="Courier" charset="0"/>
              </a:rPr>
              <a:t>5 genes among those known to be regulated by MET31. </a:t>
            </a:r>
            <a:br>
              <a:rPr lang="fr-FR" sz="1500">
                <a:ea typeface="Courier" charset="0"/>
                <a:cs typeface="Courier" charset="0"/>
              </a:rPr>
            </a:br>
            <a:r>
              <a:rPr lang="fr-FR" sz="1500">
                <a:ea typeface="Courier" charset="0"/>
                <a:cs typeface="Courier" charset="0"/>
              </a:rPr>
              <a:t>(https://www.yeastgenome.org/locus/S000005959/regulation#targets)</a:t>
            </a:r>
            <a:br>
              <a:rPr lang="fr-FR" sz="1500">
                <a:ea typeface="Courier" charset="0"/>
                <a:cs typeface="Courier" charset="0"/>
              </a:rPr>
            </a:br>
            <a:r>
              <a:rPr lang="fr-FR" sz="1500">
                <a:ea typeface="Courier" charset="0"/>
                <a:cs typeface="Courier" charset="0"/>
              </a:rPr>
              <a:t>Do we find at least one binding site in the upstream region (-1000 kb)? </a:t>
            </a:r>
            <a:br>
              <a:rPr lang="fr-FR" sz="1500">
                <a:ea typeface="Courier" charset="0"/>
                <a:cs typeface="Courier" charset="0"/>
              </a:rPr>
            </a:br>
            <a:r>
              <a:rPr lang="fr-FR" sz="1500">
                <a:ea typeface="Courier" charset="0"/>
                <a:cs typeface="Courier" charset="0"/>
              </a:rPr>
              <a:t>If yes -&gt; potential target of MET31 </a:t>
            </a:r>
            <a:br>
              <a:rPr lang="fr-FR" sz="1500">
                <a:ea typeface="Courier" charset="0"/>
                <a:cs typeface="Courier" charset="0"/>
              </a:rPr>
            </a:br>
            <a:r>
              <a:rPr lang="fr-FR" sz="1500">
                <a:ea typeface="Courier" charset="0"/>
                <a:cs typeface="Courier" charset="0"/>
              </a:rPr>
              <a:t>(+discuss function of the genes –&gt; related to methionine metabolism?) </a:t>
            </a:r>
          </a:p>
          <a:p>
            <a:pPr marL="138113" indent="-138113">
              <a:buFont typeface="Arial" charset="0"/>
              <a:buChar char="•"/>
            </a:pPr>
            <a:endParaRPr lang="fr-FR" sz="1500">
              <a:ea typeface="Courier" charset="0"/>
              <a:cs typeface="Courier" charset="0"/>
            </a:endParaRPr>
          </a:p>
          <a:p>
            <a:pPr marL="138113" indent="-138113">
              <a:buFont typeface="Arial" charset="0"/>
              <a:buChar char="•"/>
            </a:pPr>
            <a:r>
              <a:rPr lang="fr-FR" sz="1500">
                <a:ea typeface="Courier" charset="0"/>
                <a:cs typeface="Courier" charset="0"/>
              </a:rPr>
              <a:t>5 yeast genes not known to be regulated by MET31.</a:t>
            </a:r>
            <a:br>
              <a:rPr lang="fr-FR" sz="1500">
                <a:ea typeface="Courier" charset="0"/>
                <a:cs typeface="Courier" charset="0"/>
              </a:rPr>
            </a:br>
            <a:r>
              <a:rPr lang="fr-FR" sz="1500">
                <a:ea typeface="Courier" charset="0"/>
                <a:cs typeface="Courier" charset="0"/>
              </a:rPr>
              <a:t>We should not find any binding site in these genes...  </a:t>
            </a:r>
            <a:endParaRPr lang="fr-FR" sz="1500">
              <a:ea typeface="Courier" charset="0"/>
              <a:cs typeface="Courier" charset="0"/>
            </a:endParaRPr>
          </a:p>
        </p:txBody>
      </p:sp>
    </p:spTree>
    <p:extLst>
      <p:ext uri="{BB962C8B-B14F-4D97-AF65-F5344CB8AC3E}">
        <p14:creationId xmlns:p14="http://schemas.microsoft.com/office/powerpoint/2010/main" val="115046078"/>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13</TotalTime>
  <Words>239</Words>
  <Application>Microsoft Macintosh PowerPoint</Application>
  <PresentationFormat>Présentation à l'écran (4:3)</PresentationFormat>
  <Paragraphs>44</Paragraphs>
  <Slides>2</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vt:i4>
      </vt:variant>
    </vt:vector>
  </HeadingPairs>
  <TitlesOfParts>
    <vt:vector size="8" baseType="lpstr">
      <vt:lpstr>Calibri</vt:lpstr>
      <vt:lpstr>Calibri Light</vt:lpstr>
      <vt:lpstr>Courier</vt:lpstr>
      <vt:lpstr>Wingdings</vt:lpstr>
      <vt:lpstr>Arial</vt:lpstr>
      <vt:lpstr>Thème Office</vt:lpstr>
      <vt:lpstr>Présentation PowerPoint</vt:lpstr>
      <vt:lpstr>Présentation PowerPoint</vt:lpstr>
    </vt:vector>
  </TitlesOfParts>
  <Company/>
  <LinksUpToDate>false</LinksUpToDate>
  <SharedDoc>false</SharedDoc>
  <HyperlinksChanged>false</HyperlinksChanged>
  <AppVersion>15.0032</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Utilisateur de Microsoft Office</dc:creator>
  <cp:lastModifiedBy>Utilisateur de Microsoft Office</cp:lastModifiedBy>
  <cp:revision>2</cp:revision>
  <dcterms:created xsi:type="dcterms:W3CDTF">2022-11-02T13:32:11Z</dcterms:created>
  <dcterms:modified xsi:type="dcterms:W3CDTF">2022-11-02T13:46:00Z</dcterms:modified>
</cp:coreProperties>
</file>